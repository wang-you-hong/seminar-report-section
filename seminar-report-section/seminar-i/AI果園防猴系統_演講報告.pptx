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959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5A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演講報告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果園防猴系統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從實驗室到真實果園的軟硬體閉環系統研究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日期：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2026-10-13
</a:t>
            </a:r>
            <a:r>
              <a:rPr lang="en-US" sz="15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講者：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大同大學</a:t>
            </a:r>
            <a:r>
              <a:rPr lang="zh-TW" alt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資訊工程系 卓世明教授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題目：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果園防猴系統（研究方法與論文轉化分享）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果園防猴系統｜演講報告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｜ 簡介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這堂課在講什麼？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講師透過「AI 果園防猴系統」這個真實案例，示範如何把一個工程問題，一步步做成可以發表的學術論文。整套系統從第一代實驗室模擬，做到第二代宜蘭真實果園實測，再到第三代加入熱成像與無人機，形成完整的軟硬體閉環。重點不只是技術，更是「怎麼把限制變成下一篇論文的題目」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762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86000"/>
            <a:ext cx="2697480" cy="73152"/>
          </a:xfrm>
          <a:prstGeom prst="rect">
            <a:avLst/>
          </a:prstGeom>
          <a:solidFill>
            <a:srgbClr val="2E5A3C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問題很真實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" y="297180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台灣獼猴約 30 萬隻，單季可造成果園超過 15% 直接損失。傳統電網、聲音驅趕很快就失效。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228600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762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286000"/>
            <a:ext cx="2697480" cy="73152"/>
          </a:xfrm>
          <a:prstGeom prst="rect">
            <a:avLst/>
          </a:prstGeom>
          <a:solidFill>
            <a:srgbClr val="2E5A3C"/>
          </a:solidFill>
          <a:ln/>
        </p:spPr>
      </p:sp>
      <p:sp>
        <p:nvSpPr>
          <p:cNvPr id="13" name="Text 11"/>
          <p:cNvSpPr/>
          <p:nvPr/>
        </p:nvSpPr>
        <p:spPr>
          <a:xfrm>
            <a:off x="3456432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技術有演進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56432" y="297180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YOLOv5 + 雷射，到 DDPG 強化學習抗習慣化，再到 RGB + 熱成像 + 無人機雙層防線。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228600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762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286000"/>
            <a:ext cx="2697480" cy="73152"/>
          </a:xfrm>
          <a:prstGeom prst="rect">
            <a:avLst/>
          </a:prstGeom>
          <a:solidFill>
            <a:srgbClr val="2E5A3C"/>
          </a:solidFill>
          <a:ln/>
        </p:spPr>
      </p:sp>
      <p:sp>
        <p:nvSpPr>
          <p:cNvPr id="17" name="Text 15"/>
          <p:cNvSpPr/>
          <p:nvPr/>
        </p:nvSpPr>
        <p:spPr>
          <a:xfrm>
            <a:off x="6291072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研究心法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91072" y="297180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前一篇論文的限制，就是下一篇論文的起點。強調最小閉環、模組化迭代與公平實驗設計。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果園防猴系統｜演講報告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｜ 問題與動機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為什麼傳統方法都不夠用？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98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電圍網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1298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短期驅離 &gt;90%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94960" y="12984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成本高、常斷線、猴子會找破口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8F0E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38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固定聲音驅趕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19385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 1–2 週有效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19385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週幾乎完全失效（習慣化）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578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圍網／防猴網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25786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阻擋 70–85%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94960" y="25786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安裝費工、越後面越無效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8F0E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186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誘捕籠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0" y="32186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捕獲率 30–45%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32186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法規限制，可能傷及動物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共同痛點：成本高 + 獼猴學習能力強，固定刺激很快就沒效。必須追求「不可預測」的動態驅離。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果園防猴系統｜演講報告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｜ 系統三代演進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2E5A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698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論文一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實驗室原型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 + 雷射 + MQTT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命中率 94%，延遲 38 ms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用猴偶先驗證可行性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解決：看得到、打得準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868680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05156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2E5A3C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0698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論文二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真實果園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20440" y="2011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YOLOv12 + BoT-SORT + DDPG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2651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宜蘭頭城 21 天實測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入侵率降低 88%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解決：多目標、抗習慣化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868680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105156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2E5A3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0698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論文三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空地協同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2011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+ 熱成像 + 無人機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2651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解決漏判、誤判、追不上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目前資料收集中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加入聲音／多模態刺激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果園防猴系統｜演講報告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｜ 技術深入：偵測與追蹤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41148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blurRad="762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模型選擇與增量學習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為什麼選 YOLOv12n？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Jetson Orin 上 mAP 0.923、參數僅 2.56M、實地約 35 FPS，準確度與速度兼顧。YOLOv10n 在增量學習時會崩潰（mAP 掉到 0.673），因為 NMS 設計不利學習新類別（雷射光點）。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三階段訓練策略：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監督式：只標獼猴 + 約 10% 純背景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半監督：老師模型對未標影像產生偽標籤（信心 ≥ 0.8）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增量微調：凍結前 10 層，加入「雷射光點」類別，低學習率避免遺忘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人工標註量減少約 60%，訓練時間也明顯縮短。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731520"/>
            <a:ext cx="41148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blurRad="762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多目標追蹤 BoT-SORT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28016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猴群長得很像，怎麼不跟丟？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BoT-SORT 的 Re-ID 特徵能更好分開個體（同類餘弦距離約 0.4–0.5，ByteTrack 約 0.1），因此軌跡數更少、平均壽命更長。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實驗對比（兩場景）：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場景 1：BoT-SORT 16 條軌跡、平均壽命 1.88 s；ByteTrack 45 條、0.81 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場景 2：BoT-SORT 27 條、2.13 s；ByteTrack 49 條、1.54 s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軌跡少、壽命長 → ID 交換少 → 雷射能穩定追同一隻猴子，不會在猴群中亂跳。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果園防猴系統｜演講報告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｜ 技術深入：強化學習與雙光融合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41148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blurRad="762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DDPG：把不可預測寫進獎勵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獎勵函數（示意）：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1.0 × R驅離 + 0.5 × R安全 − 0.8 × R習慣化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驅離成效（權重最高）：猴子離開或停留縮短 → 加分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安全與能耗：低功率、間歇發射 → 加分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習慣化懲罰：重複固定模式 → 扣分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觀察狀態：軌跡、速度、與果園邊界距離、群體密度。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輸出動作：雷射水平／垂直角度、功率、模式（定點、隨機掃描、閃爍）。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天結果：固定路徑 IFRR 只剩 8%，隨機 45%，DDPG 仍維持約 88%。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731520"/>
            <a:ext cx="41148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blurRad="762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+ 熱成像為什麼必要？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28016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優點：顏色、紋理細緻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弱點：樹葉遮擋、強光反光、夜間需補光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熱成像優點：體溫輪廓明顯、不受可見光影響、夜間可用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弱點：解析度較低、曬熱物體可能干擾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融合邏輯：熱影像先找「哪裡有體溫」，RGB 再確認「是不是猴子」。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時空同步：RGB 約 30 fps、熱約 8.5 fps，用統一時鐘、校正延遲、最近幀配對，誤差控制在約 16.7 ms 內；空間用單應性矩陣對齊。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果園防猴系統｜演講報告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｜ 關鍵實驗結果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天平均入侵率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降低幅度（IFRR）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82296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9601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97480" y="1600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實驗室雷射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9601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ms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46320" y="1600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偵測到發射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平均延遲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82296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9601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 年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95160" y="1600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四組系統約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個月回本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行為層面也有改善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2971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不只入侵次數下降：平均停留時間從 45 秒降到約 6.75 秒，第 3 週作物損害減少約 75%。統計上，演算法 × 時間交互作用顯著（RM-ANOVA，F(40,1170)=88.42，p&lt;0.001）。固定路徑與隨機路徑在後期明顯失效，只有 DDPG 能長期維持效果。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果園防猴系統｜演講報告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｜ 論文撰寫心法（一）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限制就是下一篇論文的起點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這是整場演講最核心的研究方法論。論文一誠實寫出四個限制，直接變成論文二的研究問題：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夜間偵測差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1554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論文二配置 RGB、NIR、ToF；論文三再加熱成像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E8F0E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48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人臉誤判約 21%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2148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只標註獼猴，人當作背景，減少誤觸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多目標成功率掉到 68%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2743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加入 BoT-SORT 多目標追蹤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E8F0E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37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「成功」只定義為光點命中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3337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改用 IFRR、停留時間等行為指標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果園防猴系統｜演講報告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｜ 論文撰寫心法（二）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最小閉環、模組化、公平比較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最小閉環先跑通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435608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先用簡單模型與模擬環境把「輸入→推論→致動」打通。例如：攝影機 → YOLOv5 → 雷射，先用猴偶驗證。不要一開始就追求完整大系統，否則變因太多、出問題難排查。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286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一次只升級一個模組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578608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系統採五層模組化：感測、前處理、決策、執行、人機介面。換 YOLO 版本或換邊緣運算平台時，其他層不必改。這樣實驗控制變因清楚，論文也好寫「與誰比較」。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8229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429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公平比較與敏感度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721608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基準期 7 天只偵測不驅離；L1／L2／L5 同硬體、同場域；四個 YOLO 同資料同流程。校正點數 N=50／100／181、係數擾動 ±5% 做敏感度分析，再用 RM-ANOVA + Tukey HSD 檢定。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果園防猴系統｜演講報告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｜ 論文撰寫心法（三）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寫碩論前先問自己的六個問題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207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問題能用數字描述嗎？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本例：損害 &gt;15%；5 週後驅趕效果剩 12%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042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現有方法的缺口在哪？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651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本例：可預測的刺激會被習慣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4015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最小可行的閉環是什麼？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749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本例：攝影機 → YOLO → 雷射，先用猴偶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1207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要跟誰比？什麼要固定？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本例：L1／L2／L5 同硬體、同場域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194560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23042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用什麼指標與檢定？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651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本例：IFRR 隨時間變化；RM-ANOVA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291840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34015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限制與下一步是什麼？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749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本例：論文一的限制 → 論文二的題目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果園防猴系統｜演講報告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｜ 心得報告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聽完這場演講，我覺得收穫最大的不是單一演算法，而是「怎麼把真實問題做成可發表的研究」。以下分幾點整理：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限制不是羞恥，而是下一題的原料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很多學生做系統時會想把缺點藏起來，但講師反其道而行——論文一明確寫出夜間差、誤判、多目標跟丟。這些「沒做好的地方」直接變成論文二的研究問題。這種心態讓研究有連續性，也不會停在模擬環境。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最小閉環比一次做完整更重要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305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先用猴偶把「看得到→打得準」這條路跑通，再進真實果園、再加強化學習、再加熱成像。每一步只改一個模組，實驗才控得住變因，論文也才寫得清楚「與誰比較、差異從哪來」。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指標要對準「真問題」而不只是模型分數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999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再高，如果猴子還是每天進來偷果子，對農夫沒意義。所以論文二改用 IFRR、停留時間、作物損害來衡量。寫論文時要能解釋「這個數字代表什麼、為什麼這樣設計」。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跨領域也能切入 AI 系統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867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非資工背景不必從零訓練大模型。硬體、光電、控制、機構都能找到切入點——例如雷射校正、雙光對齊、無人機飛行、水砲機構。開源 YOLO 與邊緣平台已高度模組化，重點是把閉環做完整。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果園防猴系統｜演講報告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｜ 關鍵字與參考文獻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關鍵字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600200" cy="320040"/>
          </a:xfrm>
          <a:prstGeom prst="roundRect">
            <a:avLst>
              <a:gd name="adj" fmla="val 14286"/>
            </a:avLst>
          </a:prstGeom>
          <a:solidFill>
            <a:srgbClr val="E8F0E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果園防猴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48840" y="960120"/>
            <a:ext cx="1600200" cy="320040"/>
          </a:xfrm>
          <a:prstGeom prst="roundRect">
            <a:avLst>
              <a:gd name="adj" fmla="val 14286"/>
            </a:avLst>
          </a:prstGeom>
          <a:solidFill>
            <a:srgbClr val="E8F0EA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960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0" y="960120"/>
            <a:ext cx="1600200" cy="320040"/>
          </a:xfrm>
          <a:prstGeom prst="roundRect">
            <a:avLst>
              <a:gd name="adj" fmla="val 14286"/>
            </a:avLst>
          </a:prstGeom>
          <a:solidFill>
            <a:srgbClr val="E8F0EA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960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多目標追蹤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32120" y="960120"/>
            <a:ext cx="1600200" cy="320040"/>
          </a:xfrm>
          <a:prstGeom prst="roundRect">
            <a:avLst>
              <a:gd name="adj" fmla="val 14286"/>
            </a:avLst>
          </a:prstGeom>
          <a:solidFill>
            <a:srgbClr val="E8F0EA"/>
          </a:solidFill>
          <a:ln/>
        </p:spPr>
      </p:sp>
      <p:sp>
        <p:nvSpPr>
          <p:cNvPr id="13" name="Text 11"/>
          <p:cNvSpPr/>
          <p:nvPr/>
        </p:nvSpPr>
        <p:spPr>
          <a:xfrm>
            <a:off x="5532120" y="960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23760" y="960120"/>
            <a:ext cx="1600200" cy="320040"/>
          </a:xfrm>
          <a:prstGeom prst="roundRect">
            <a:avLst>
              <a:gd name="adj" fmla="val 14286"/>
            </a:avLst>
          </a:prstGeom>
          <a:solidFill>
            <a:srgbClr val="E8F0EA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960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抗習慣化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344168"/>
            <a:ext cx="1600200" cy="320040"/>
          </a:xfrm>
          <a:prstGeom prst="roundRect">
            <a:avLst>
              <a:gd name="adj" fmla="val 14286"/>
            </a:avLst>
          </a:prstGeom>
          <a:solidFill>
            <a:srgbClr val="E8F0E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34416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RGB-熱成像融合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48840" y="1344168"/>
            <a:ext cx="1600200" cy="320040"/>
          </a:xfrm>
          <a:prstGeom prst="roundRect">
            <a:avLst>
              <a:gd name="adj" fmla="val 14286"/>
            </a:avLst>
          </a:prstGeom>
          <a:solidFill>
            <a:srgbClr val="E8F0EA"/>
          </a:solidFill>
          <a:ln/>
        </p:spPr>
      </p:sp>
      <p:sp>
        <p:nvSpPr>
          <p:cNvPr id="19" name="Text 17"/>
          <p:cNvSpPr/>
          <p:nvPr/>
        </p:nvSpPr>
        <p:spPr>
          <a:xfrm>
            <a:off x="2148840" y="134416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無人機協同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0" y="1344168"/>
            <a:ext cx="1600200" cy="320040"/>
          </a:xfrm>
          <a:prstGeom prst="roundRect">
            <a:avLst>
              <a:gd name="adj" fmla="val 14286"/>
            </a:avLst>
          </a:prstGeom>
          <a:solidFill>
            <a:srgbClr val="E8F0EA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134416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邊緣運算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32120" y="1344168"/>
            <a:ext cx="1600200" cy="320040"/>
          </a:xfrm>
          <a:prstGeom prst="roundRect">
            <a:avLst>
              <a:gd name="adj" fmla="val 14286"/>
            </a:avLst>
          </a:prstGeom>
          <a:solidFill>
            <a:srgbClr val="E8F0EA"/>
          </a:solidFill>
          <a:ln/>
        </p:spPr>
      </p:sp>
      <p:sp>
        <p:nvSpPr>
          <p:cNvPr id="23" name="Text 21"/>
          <p:cNvSpPr/>
          <p:nvPr/>
        </p:nvSpPr>
        <p:spPr>
          <a:xfrm>
            <a:off x="5532120" y="134416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閉環系統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23760" y="1344168"/>
            <a:ext cx="1600200" cy="320040"/>
          </a:xfrm>
          <a:prstGeom prst="roundRect">
            <a:avLst>
              <a:gd name="adj" fmla="val 14286"/>
            </a:avLst>
          </a:prstGeom>
          <a:solidFill>
            <a:srgbClr val="E8F0EA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0" y="134416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半監督學習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1920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參考文獻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Cho, S.-M., et al. (2025). AI 即時影像辨識結合雷射驅離的果園防猴系統. Engineering Proceedings.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Cho et al. (2025). 結合多目標追蹤與強化學習的抗習慣化雷射驅離系統. Computers, Materials &amp; Continua (SCI Q2).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演講簡報：AI 果園防猴系統—研究方法與論文轉化分享（2026-10-13）。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聯合新聞網、Yahoo 新聞：獼猴危害與電網防治相關報導（2019–2024）。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感謝講師分享完整研究歷程與心法，讓我們看到從工程問題到學術論文的清晰路徑。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1092</Words>
  <Application>Microsoft Office PowerPoint</Application>
  <PresentationFormat>如螢幕大小 (16:9)</PresentationFormat>
  <Paragraphs>200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AI果園防猴系統 演講報告</dc:title>
  <dc:subject>PptxGenJS Presentation</dc:subject>
  <dc:creator>Student Report</dc:creator>
  <cp:lastModifiedBy>又鋐 王</cp:lastModifiedBy>
  <cp:revision>2</cp:revision>
  <dcterms:created xsi:type="dcterms:W3CDTF">2026-10-13T09:51:10Z</dcterms:created>
  <dcterms:modified xsi:type="dcterms:W3CDTF">2026-10-13T10:32:49Z</dcterms:modified>
</cp:coreProperties>
</file>