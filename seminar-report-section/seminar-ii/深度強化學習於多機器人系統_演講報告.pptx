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演講報告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深度強化學習於多機器人系統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學習與控制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2834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日期：</a:t>
            </a:r>
            <a:pPr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2026-10-20
</a:t>
            </a:r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講者：</a:t>
            </a:r>
            <a:pPr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蔣惟丞 教授（國立中正大學電機工程學系）
</a:t>
            </a:r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題目：</a:t>
            </a:r>
            <a:pPr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深度強化學習於多機器人系統學習與控制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80060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深度強化學習於多機器人系統｜演講報告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80960" y="48006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｜ 大綱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841248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5953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78638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代理人與強化學習基礎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00584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Agent、State、Action、Reward、Q-learning、DQN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353312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1463040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1F4E79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4813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1408176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多代理人通訊架構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162763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完全／部分／無通訊，以及非平穩環境問題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975104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084832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1F4E79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1031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202996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合作停滯與深度合作模型 DCM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2249424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值、ADF 融合決策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596896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2706624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1F4E79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7249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265176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階層式強化學習與行為融合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80160" y="287121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子技能拆解、NET_FW / NET_RF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18688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3328416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1F4E79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34670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80160" y="327355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實驗驗證與結論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80160" y="3493008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狼抓羊、合作搬運、足球、星海爭霸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4360" y="3950208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1F4E79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96849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80160" y="389534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心得與關鍵字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280160" y="411480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研究啟發與參考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80060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深度強化學習於多機器人系統｜演講報告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80960" y="48006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｜ 代理人與強化學習基礎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8412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代理人（Agent）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透過感測器感知環境 → 將資訊編碼為「狀態（State）」→ 分析學習後輸出「行動（Action）」→ 環境回傳「報酬（Reward）」。載具可以是機器人本體、電腦系統或任何自主移動平臺。強化學習用 trial-and-error 與環境互動，逐步學出策略（Policy）。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E8F0F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240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環境資訊的可計算表示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14600" y="210312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E8F0F7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2240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0604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造成狀態轉移的決策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10312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E8F0F7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240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評估動作好壞的訊號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12280" y="210312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E8F0F7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2240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狀態 → 行動的映射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機器學習四種模式：監督式（有標籤）、非監督式（無標籤分組）、半監督式（少量標籤＋大量無標籤）、強化學習（試錯＋報酬）。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報酬例子：撞牆 −100、到達終點 +100、其他 0。目標是最大化累積折扣報酬。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80060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深度強化學習於多機器人系統｜演講報告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80960" y="48006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｜ 從表格 Q-learning 到深度 Q 網路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411480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868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傳統表格 Q-learning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值 = 在某狀態下採取某動作，對到達終點的長期價值評估。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用二維表格存每個「狀態－行動」對的 Q 值。感測維度一多（尤其影像），表格指數爆炸，記憶體與計算都撐不住。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更新方式：根據實際報酬與下一狀態最大 Q 值，逐步修正表格。適合小規模離散狀態。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63440" y="731520"/>
            <a:ext cx="411480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868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 Q 網路（DQN）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32588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用神經網路做函數近似：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輸入影像／感測狀態 → 輸出各動作的 Q 值。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關鍵穩定技巧：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經驗回放（Experience Replay）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目標網路（Target Network）定期同步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主網路選動作，目標網路評估價值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解決高維狀態問題，讓強化學習能直接處理視覺輸入。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80060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深度強化學習於多機器人系統｜演講報告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80960" y="48006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｜ 多代理人通訊架構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資訊如何在群體機器人之間流動，決定了協作難度與成本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74320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2743200" cy="91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完全通訊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交換完整狀態與動作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優點：資訊最完整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限制：聯合狀態空間與傳輸成本高，維度爆炸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4320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51560"/>
            <a:ext cx="2743200" cy="91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部分通訊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83280" y="187452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只分享指定局部資訊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優點：協調性與成本折衷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限制：需設計分享內容與頻率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74320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51560"/>
            <a:ext cx="2743200" cy="914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無通訊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263640" y="187452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只靠自身觀測與回饋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優點：通訊負擔最低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限制：難推測同伴意圖，易衝突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80060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深度強化學習於多機器人系統｜演講報告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80960" y="48006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｜ 非平穩環境與合作停滯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8412480" cy="1280160"/>
          </a:xfrm>
          <a:prstGeom prst="roundRect">
            <a:avLst>
              <a:gd name="adj" fmla="val 4286"/>
            </a:avLst>
          </a:prstGeom>
          <a:solidFill>
            <a:srgbClr val="E8F0F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非平穩性（Non-stationarity）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當其他機器人也在更新策略時，對單一機器人而言「環境」一直在變。A 改策略 → B 的經驗分布改變 → B 的學習目標移動 → 群體決策震盪。局部學習者的策略彼此耦合：個體改變行為，也改變同伴的學習環境。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合作停滯的兩種來源（只顧個體最優，整體任務可能卡住）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41148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697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環境型停滯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物件前進方向被牆壁或障礙阻擋。部分機器人持續往前，整體卻過不去，任務失敗。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663440" y="2560320"/>
            <a:ext cx="41148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2697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非環境型停滯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310896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沒有障礙，卻因個體選擇不同方向而產生拉扯、物件掉落或僵持。典型「各自最優、群體最差」。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80060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深度強化學習於多機器人系統｜演講報告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80960" y="48006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｜ 深度合作模型 DCM（核心技術）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讓機器人不只追求自己的 Q 值，也學會「估計合作」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430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我的下一步最好？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個體行動價值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1430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這一步有助於合作？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874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群體合作傾向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值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11430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我知道同伴在做什麼？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1874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可得資訊與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通訊成本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651760"/>
            <a:ext cx="84124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2788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架構：DQN + DCM → ADF 融合 → 最終行動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3154680"/>
            <a:ext cx="8046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深度 Q 網路（DQN）：負責個體決策，輸出 Q(s, a)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深度合作模型（DCM）：模擬其他代理人意圖，輸出合作傾向 C(s, a) ∈ [0,1]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ADF（Action Decision Function）：將 Q 值與 C 值融合，抑制「對自己好、對群體不好」的動作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局部狀態 s 同時輸入兩個網路，再共同決定行動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80060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深度強化學習於多機器人系統｜演講報告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80960" y="48006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｜ C 值如何從成功與停滯調整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1148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14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發生合作停滯或失敗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C_{t+1} = C_t − ρ₁ C_t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降低該「狀態－行動」對的合作評分，下次較不傾向選這個動作。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1148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914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沒有發生停滯或合作失敗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3258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C_{t+1} = C_t + ρ_w (1 − C_t)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提高該「狀態－行動」對的合作評分，鼓勵群體一致的動作。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8412480" cy="1554480"/>
          </a:xfrm>
          <a:prstGeom prst="roundRect">
            <a:avLst>
              <a:gd name="adj" fmla="val 3529"/>
            </a:avLst>
          </a:prstGeom>
          <a:solidFill>
            <a:srgbClr val="E8F0F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71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設計精神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值是「統計意義上的合作傾向」，不是硬編碼規則。透過經驗回放持續更新，讓每個機器人在無通訊下仍能逐漸形成「哪些動作比較不會拖累群體」的共識。這比單純加大懲罰項更有結構，也較能遷移到不同任務。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80060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深度強化學習於多機器人系統｜演講報告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80960" y="48006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｜ 階層式強化學習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複雜任務不適合只靠單一平面策略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143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平面式學習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單一策略同時學全部技能。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面對高維狀態、複雜回饋與學習干擾，探索時間長、收斂困難，技能之間容易互相干擾。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1148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143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階層式學習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把任務拆成可重用的子行為，再依情境選擇、融合或指派。底層技能可重複使用，訓練維度下降，收斂較快。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子行為模組範例（每個模組回饋相對清楚）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1627632" cy="640080"/>
          </a:xfrm>
          <a:prstGeom prst="roundRect">
            <a:avLst>
              <a:gd name="adj" fmla="val 7143"/>
            </a:avLst>
          </a:prstGeom>
          <a:solidFill>
            <a:srgbClr val="E8F0F7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79476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導航與定位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84832" y="3657600"/>
            <a:ext cx="1627632" cy="640080"/>
          </a:xfrm>
          <a:prstGeom prst="roundRect">
            <a:avLst>
              <a:gd name="adj" fmla="val 7143"/>
            </a:avLst>
          </a:prstGeom>
          <a:solidFill>
            <a:srgbClr val="E8F0F7"/>
          </a:solidFill>
          <a:ln/>
        </p:spPr>
      </p:sp>
      <p:sp>
        <p:nvSpPr>
          <p:cNvPr id="16" name="Text 14"/>
          <p:cNvSpPr/>
          <p:nvPr/>
        </p:nvSpPr>
        <p:spPr>
          <a:xfrm>
            <a:off x="2084832" y="379476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避障與安全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03904" y="3657600"/>
            <a:ext cx="1627632" cy="640080"/>
          </a:xfrm>
          <a:prstGeom prst="roundRect">
            <a:avLst>
              <a:gd name="adj" fmla="val 7143"/>
            </a:avLst>
          </a:prstGeom>
          <a:solidFill>
            <a:srgbClr val="E8F0F7"/>
          </a:solidFill>
          <a:ln/>
        </p:spPr>
      </p:sp>
      <p:sp>
        <p:nvSpPr>
          <p:cNvPr id="18" name="Text 16"/>
          <p:cNvSpPr/>
          <p:nvPr/>
        </p:nvSpPr>
        <p:spPr>
          <a:xfrm>
            <a:off x="3803904" y="379476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進攻行為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22976" y="3657600"/>
            <a:ext cx="1627632" cy="640080"/>
          </a:xfrm>
          <a:prstGeom prst="roundRect">
            <a:avLst>
              <a:gd name="adj" fmla="val 7143"/>
            </a:avLst>
          </a:prstGeom>
          <a:solidFill>
            <a:srgbClr val="E8F0F7"/>
          </a:solidFill>
          <a:ln/>
        </p:spPr>
      </p:sp>
      <p:sp>
        <p:nvSpPr>
          <p:cNvPr id="20" name="Text 18"/>
          <p:cNvSpPr/>
          <p:nvPr/>
        </p:nvSpPr>
        <p:spPr>
          <a:xfrm>
            <a:off x="5522976" y="379476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防守行為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242048" y="3657600"/>
            <a:ext cx="1627632" cy="640080"/>
          </a:xfrm>
          <a:prstGeom prst="roundRect">
            <a:avLst>
              <a:gd name="adj" fmla="val 7143"/>
            </a:avLst>
          </a:prstGeom>
          <a:solidFill>
            <a:srgbClr val="E8F0F7"/>
          </a:solidFill>
          <a:ln/>
        </p:spPr>
      </p:sp>
      <p:sp>
        <p:nvSpPr>
          <p:cNvPr id="22" name="Text 20"/>
          <p:cNvSpPr/>
          <p:nvPr/>
        </p:nvSpPr>
        <p:spPr>
          <a:xfrm>
            <a:off x="7242048" y="379476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合作搬運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80060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深度強化學習於多機器人系統｜演講報告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80960" y="48006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｜ 行為融合網路（技術細節）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子行為提出候選動作 → 融合網路根據狀態調整各模組影響力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DQN₁（導航）＋ DQN₂（射門）＋ DQN₃（找球）… → 融合權重網路 → 最終控制行動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最終動作 a_final = Σ w_i × a_i ，其中 w_i 由當前狀態動態產生。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1148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NET_FW（融合權重）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輸入影像／狀態特徵，輸出各子行為的權重 w_i。讓系統在不同情境下自動決定「現在該多聽誰的」。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663440" y="2286000"/>
            <a:ext cx="41148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2423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NET_RF（回饋預測）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288036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預測回饋與學習訊號，協助訓練融合網路。讓權重學習更穩定，減少純試錯帶來的震盪。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80060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深度強化學習於多機器人系統｜演講報告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80960" y="48006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｜ 實驗驗證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84124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77724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狼抓羊（掠食者－獵物）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06984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獵物可固定或隨機移動（15% 上下左右、40% 原地）。兩個獵人距離 ≤1 包圍給 +50；碰撞／出界 −10。驗證無通訊下的圍困協作。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84124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7373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合作搬運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02996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7×7 環境，兩代理要把物件送到目標並避障。實體實驗用上方連桿拘束雙機，成功練出共同通過狹窄通道的動作。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606040"/>
            <a:ext cx="84124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6974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足球機器人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9900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子技能（導航、射門、找球、防守…）分別訓練後再融合。階層架構支援技能重複調用，降低長遠決策訓練時程。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84124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6576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星海爭霸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95020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5v6、8v9 劣勢兵力。成功學會「單兵誘敵＋其餘集中火力」策略，展現長期目標規劃與混合賽局能力。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80060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深度強化學習於多機器人系統｜演講報告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80960" y="48006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｜ 結論與技術重點回顧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平面式學習用單一決策層直接選動作，複雜任務探索時間長、收斂慢。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8412480" cy="594360"/>
          </a:xfrm>
          <a:prstGeom prst="roundRect">
            <a:avLst>
              <a:gd name="adj" fmla="val 7692"/>
            </a:avLst>
          </a:prstGeom>
          <a:solidFill>
            <a:srgbClr val="E8F0F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階層式強化學習透過高／低層策略分工，把複雜任務拆成多個子目標或技能。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84124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40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技能重複使用減少重複學習，可提升多階段任務的學習效率。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788920"/>
            <a:ext cx="8412480" cy="594360"/>
          </a:xfrm>
          <a:prstGeom prst="roundRect">
            <a:avLst>
              <a:gd name="adj" fmla="val 7692"/>
            </a:avLst>
          </a:prstGeom>
          <a:solidFill>
            <a:srgbClr val="E8F0F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DCM 用 C 值在無通訊下建立合作傾向，解決「個體最優、群體最差」的合作停滯。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84124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118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階層式特別適合長期決策、機器人導航與多階段任務；實際效能仍取決於技能設計與訓練方式。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80060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深度強化學習於多機器人系統｜演講報告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80960" y="48006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｜ 心得報告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無通訊是現實約束，不是技術退步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869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真實環境通訊可能中斷或延遲。從無通訊出發再往部分通訊與階層式演進，路徑務實，落地性較高。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合作停滯概念很有啟發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失敗常不是單一代理人學不好，而是各自最優卻互相拉扯。DCM 把「社會性」寫進價值估計，比單純加大懲罰更有結構。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階層式思維可搬到自己的研究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8072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先問「哪些子能力可獨立訓練？上層怎麼動態調用？」訓練更穩，論文也好寫與平面式 baseline 的差異。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學會獨立解決問題比追熱門題目重要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767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強化學習從早期相對冷門到 AlphaGo 後爆發，能堅持底層方法的人，才比較容易在浪潮來時接得住。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80060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深度強化學習於多機器人系統｜演講報告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80960" y="48006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｜ 關鍵字與參考文獻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關鍵字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E8F0F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深度強化學習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00584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E8F0F7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0058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多機器人系統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E8F0F7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0058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00584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E8F0F7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10058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無通訊協作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41732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E8F0F7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4173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非平穩環境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0" y="141732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E8F0F7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14173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41732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E8F0F7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14173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141732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E8F0F7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14173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合作停滯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182880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E8F0F7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18288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階層式 RL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60320" y="182880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E8F0F7"/>
          </a:solidFill>
          <a:ln/>
        </p:spPr>
      </p:sp>
      <p:sp>
        <p:nvSpPr>
          <p:cNvPr id="25" name="Text 23"/>
          <p:cNvSpPr/>
          <p:nvPr/>
        </p:nvSpPr>
        <p:spPr>
          <a:xfrm>
            <a:off x="2560320" y="18288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行為融合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182880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E8F0F7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18288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星海爭霸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66560" y="182880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E8F0F7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18288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足球機器人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2377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參考文獻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蔣惟丞（2026）。深度強化學習於多機器人系統學習與控制。國立中正大學電機工程學系學術演講，2026-10-20。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演講簡報：深度強化學習於多機器人系統學習與控制（智慧學習系統與決策智慧實驗室）。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深度強化學習經典（DQN 系列）與多代理人強化學習（MARL）相關文獻。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標準驗證平台：Webots、Google Research Football、StarCraft 等。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深度強化學習於多機器人系統學習與控制</dc:title>
  <dc:subject>PptxGenJS Presentation</dc:subject>
  <dc:creator>Student Report</dc:creator>
  <cp:lastModifiedBy>Student Report</cp:lastModifiedBy>
  <cp:revision>1</cp:revision>
  <dcterms:created xsi:type="dcterms:W3CDTF">2026-10-20T07:05:54Z</dcterms:created>
  <dcterms:modified xsi:type="dcterms:W3CDTF">2026-10-20T07:05:54Z</dcterms:modified>
</cp:coreProperties>
</file>